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aunces" charset="1" panose="00000000000000000000"/>
      <p:regular r:id="rId22"/>
    </p:embeddedFont>
    <p:embeddedFont>
      <p:font typeface="Arimo" charset="1" panose="020B0604020202020204"/>
      <p:regular r:id="rId23"/>
    </p:embeddedFont>
    <p:embeddedFont>
      <p:font typeface="Arimo Bold" charset="1" panose="020B07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jpeg" Type="http://schemas.openxmlformats.org/officeDocument/2006/relationships/image"/><Relationship Id="rId6" Target="../media/image3.png" Type="http://schemas.openxmlformats.org/officeDocument/2006/relationships/image"/><Relationship Id="rId7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2" Target="../notesSlides/notesSlide1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43.jpe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1701841"/>
            <a:ext cx="4051040" cy="1012669"/>
            <a:chOff x="0" y="0"/>
            <a:chExt cx="5401386" cy="135022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401437" cy="1350264"/>
            </a:xfrm>
            <a:custGeom>
              <a:avLst/>
              <a:gdLst/>
              <a:ahLst/>
              <a:cxnLst/>
              <a:rect r="r" b="b" t="t" l="l"/>
              <a:pathLst>
                <a:path h="1350264" w="5401437">
                  <a:moveTo>
                    <a:pt x="0" y="0"/>
                  </a:moveTo>
                  <a:lnTo>
                    <a:pt x="5401437" y="0"/>
                  </a:lnTo>
                  <a:lnTo>
                    <a:pt x="5401437" y="1350264"/>
                  </a:lnTo>
                  <a:lnTo>
                    <a:pt x="0" y="135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57" r="0" b="-35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991" y="3121000"/>
            <a:ext cx="9452677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Campus360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4121163"/>
            <a:ext cx="9452677" cy="161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1"/>
              </a:lnSpc>
            </a:pPr>
            <a:r>
              <a:rPr lang="en-US" sz="3302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Student Academic Success, Subject Performance &amp; Career Readiness Analytics 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6066587"/>
            <a:ext cx="945267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Turning fragmented student data into actionable academic and career insights.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7388990"/>
            <a:ext cx="1759734" cy="431044"/>
            <a:chOff x="0" y="0"/>
            <a:chExt cx="2346312" cy="5747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46325" cy="574802"/>
            </a:xfrm>
            <a:custGeom>
              <a:avLst/>
              <a:gdLst/>
              <a:ahLst/>
              <a:cxnLst/>
              <a:rect r="r" b="b" t="t" l="l"/>
              <a:pathLst>
                <a:path h="574802" w="2346325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073910" y="0"/>
                  </a:lnTo>
                  <a:cubicBezTo>
                    <a:pt x="2224405" y="0"/>
                    <a:pt x="2346325" y="121920"/>
                    <a:pt x="2346325" y="272415"/>
                  </a:cubicBezTo>
                  <a:lnTo>
                    <a:pt x="2346325" y="302387"/>
                  </a:lnTo>
                  <a:cubicBezTo>
                    <a:pt x="2346325" y="452882"/>
                    <a:pt x="2224405" y="574802"/>
                    <a:pt x="2073910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63231" y="7464514"/>
            <a:ext cx="2334349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TEAM ID : 60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889752" y="7384218"/>
            <a:ext cx="2862043" cy="440579"/>
            <a:chOff x="0" y="0"/>
            <a:chExt cx="3816058" cy="5874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5969" cy="587375"/>
            </a:xfrm>
            <a:custGeom>
              <a:avLst/>
              <a:gdLst/>
              <a:ahLst/>
              <a:cxnLst/>
              <a:rect r="r" b="b" t="t" l="l"/>
              <a:pathLst>
                <a:path h="587375" w="3815969">
                  <a:moveTo>
                    <a:pt x="0" y="278384"/>
                  </a:moveTo>
                  <a:cubicBezTo>
                    <a:pt x="0" y="124714"/>
                    <a:pt x="124714" y="0"/>
                    <a:pt x="278384" y="0"/>
                  </a:cubicBezTo>
                  <a:lnTo>
                    <a:pt x="3537585" y="0"/>
                  </a:lnTo>
                  <a:cubicBezTo>
                    <a:pt x="3691382" y="0"/>
                    <a:pt x="3815969" y="124714"/>
                    <a:pt x="3815969" y="278384"/>
                  </a:cubicBezTo>
                  <a:lnTo>
                    <a:pt x="3815969" y="308991"/>
                  </a:lnTo>
                  <a:cubicBezTo>
                    <a:pt x="3815969" y="462788"/>
                    <a:pt x="3691255" y="587375"/>
                    <a:pt x="3537585" y="587375"/>
                  </a:cubicBezTo>
                  <a:lnTo>
                    <a:pt x="278384" y="587375"/>
                  </a:lnTo>
                  <a:cubicBezTo>
                    <a:pt x="124714" y="587375"/>
                    <a:pt x="0" y="462788"/>
                    <a:pt x="0" y="308991"/>
                  </a:cubicBez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6584" r="-2" b="-76595"/>
              </a:stretch>
            </a:blipFill>
            <a:ln w="9532" cap="sq">
              <a:solidFill>
                <a:srgbClr val="438951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3064754" y="7464514"/>
            <a:ext cx="3427124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38951"/>
                </a:solidFill>
                <a:latin typeface="Arimo"/>
                <a:ea typeface="Arimo"/>
                <a:cs typeface="Arimo"/>
                <a:sym typeface="Arimo"/>
              </a:rPr>
              <a:t>TEAM: NEURAL NEXUS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8043967"/>
            <a:ext cx="10367762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Presented By: </a:t>
            </a: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Om Patel &amp; Rahil Nagariya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789422"/>
            <a:ext cx="9452677" cy="83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5103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The Problem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2126485"/>
            <a:ext cx="130769" cy="130769"/>
            <a:chOff x="0" y="0"/>
            <a:chExt cx="174358" cy="174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244" cy="174244"/>
            </a:xfrm>
            <a:custGeom>
              <a:avLst/>
              <a:gdLst/>
              <a:ahLst/>
              <a:cxnLst/>
              <a:rect r="r" b="b" t="t" l="l"/>
              <a:pathLst>
                <a:path h="174244" w="174244">
                  <a:moveTo>
                    <a:pt x="0" y="87122"/>
                  </a:moveTo>
                  <a:cubicBezTo>
                    <a:pt x="0" y="38989"/>
                    <a:pt x="38989" y="0"/>
                    <a:pt x="87122" y="0"/>
                  </a:cubicBezTo>
                  <a:cubicBezTo>
                    <a:pt x="135255" y="0"/>
                    <a:pt x="174244" y="38989"/>
                    <a:pt x="174244" y="87122"/>
                  </a:cubicBezTo>
                  <a:cubicBezTo>
                    <a:pt x="174244" y="135255"/>
                    <a:pt x="135255" y="174244"/>
                    <a:pt x="87122" y="174244"/>
                  </a:cubicBezTo>
                  <a:cubicBezTo>
                    <a:pt x="38989" y="174244"/>
                    <a:pt x="0" y="135382"/>
                    <a:pt x="0" y="87122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28086" y="1977990"/>
            <a:ext cx="9080773" cy="41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Academic records are siloed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6182" y="3017320"/>
            <a:ext cx="130769" cy="130769"/>
            <a:chOff x="0" y="0"/>
            <a:chExt cx="174358" cy="174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244" cy="174244"/>
            </a:xfrm>
            <a:custGeom>
              <a:avLst/>
              <a:gdLst/>
              <a:ahLst/>
              <a:cxnLst/>
              <a:rect r="r" b="b" t="t" l="l"/>
              <a:pathLst>
                <a:path h="174244" w="174244">
                  <a:moveTo>
                    <a:pt x="0" y="87122"/>
                  </a:moveTo>
                  <a:cubicBezTo>
                    <a:pt x="0" y="38989"/>
                    <a:pt x="38989" y="0"/>
                    <a:pt x="87122" y="0"/>
                  </a:cubicBezTo>
                  <a:cubicBezTo>
                    <a:pt x="135255" y="0"/>
                    <a:pt x="174244" y="38989"/>
                    <a:pt x="174244" y="87122"/>
                  </a:cubicBezTo>
                  <a:cubicBezTo>
                    <a:pt x="174244" y="135255"/>
                    <a:pt x="135255" y="174244"/>
                    <a:pt x="87122" y="174244"/>
                  </a:cubicBezTo>
                  <a:cubicBezTo>
                    <a:pt x="38989" y="174244"/>
                    <a:pt x="0" y="135382"/>
                    <a:pt x="0" y="87122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228086" y="2868825"/>
            <a:ext cx="9080773" cy="41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Attendance and lifestyle data are disconnected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56182" y="3908155"/>
            <a:ext cx="130769" cy="130769"/>
            <a:chOff x="0" y="0"/>
            <a:chExt cx="174358" cy="1743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244" cy="174244"/>
            </a:xfrm>
            <a:custGeom>
              <a:avLst/>
              <a:gdLst/>
              <a:ahLst/>
              <a:cxnLst/>
              <a:rect r="r" b="b" t="t" l="l"/>
              <a:pathLst>
                <a:path h="174244" w="174244">
                  <a:moveTo>
                    <a:pt x="0" y="87122"/>
                  </a:moveTo>
                  <a:cubicBezTo>
                    <a:pt x="0" y="38989"/>
                    <a:pt x="38989" y="0"/>
                    <a:pt x="87122" y="0"/>
                  </a:cubicBezTo>
                  <a:cubicBezTo>
                    <a:pt x="135255" y="0"/>
                    <a:pt x="174244" y="38989"/>
                    <a:pt x="174244" y="87122"/>
                  </a:cubicBezTo>
                  <a:cubicBezTo>
                    <a:pt x="174244" y="135255"/>
                    <a:pt x="135255" y="174244"/>
                    <a:pt x="87122" y="174244"/>
                  </a:cubicBezTo>
                  <a:cubicBezTo>
                    <a:pt x="38989" y="174244"/>
                    <a:pt x="0" y="135382"/>
                    <a:pt x="0" y="87122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228086" y="3759660"/>
            <a:ext cx="9080773" cy="41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 is often identified too late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6182" y="4798990"/>
            <a:ext cx="130769" cy="130769"/>
            <a:chOff x="0" y="0"/>
            <a:chExt cx="174358" cy="1743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244" cy="174244"/>
            </a:xfrm>
            <a:custGeom>
              <a:avLst/>
              <a:gdLst/>
              <a:ahLst/>
              <a:cxnLst/>
              <a:rect r="r" b="b" t="t" l="l"/>
              <a:pathLst>
                <a:path h="174244" w="174244">
                  <a:moveTo>
                    <a:pt x="0" y="87122"/>
                  </a:moveTo>
                  <a:cubicBezTo>
                    <a:pt x="0" y="38989"/>
                    <a:pt x="38989" y="0"/>
                    <a:pt x="87122" y="0"/>
                  </a:cubicBezTo>
                  <a:cubicBezTo>
                    <a:pt x="135255" y="0"/>
                    <a:pt x="174244" y="38989"/>
                    <a:pt x="174244" y="87122"/>
                  </a:cubicBezTo>
                  <a:cubicBezTo>
                    <a:pt x="174244" y="135255"/>
                    <a:pt x="135255" y="174244"/>
                    <a:pt x="87122" y="174244"/>
                  </a:cubicBezTo>
                  <a:cubicBezTo>
                    <a:pt x="38989" y="174244"/>
                    <a:pt x="0" y="135382"/>
                    <a:pt x="0" y="87122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228086" y="4650505"/>
            <a:ext cx="9080773" cy="41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Faculty cannot easily get a complete student picture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56182" y="5339810"/>
            <a:ext cx="9452677" cy="4146614"/>
            <a:chOff x="0" y="0"/>
            <a:chExt cx="12603569" cy="552881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2603607" cy="5528818"/>
            </a:xfrm>
            <a:custGeom>
              <a:avLst/>
              <a:gdLst/>
              <a:ahLst/>
              <a:cxnLst/>
              <a:rect r="r" b="b" t="t" l="l"/>
              <a:pathLst>
                <a:path h="5528818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5528818"/>
                  </a:lnTo>
                  <a:lnTo>
                    <a:pt x="0" y="552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" t="0" r="-18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169080" y="8497472"/>
            <a:ext cx="2046370" cy="25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Disconnected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28580" y="8806977"/>
            <a:ext cx="2127371" cy="21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Scattered sources and silos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49876" y="5766492"/>
            <a:ext cx="2046370" cy="25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Limited Insight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09375" y="6076007"/>
            <a:ext cx="2127371" cy="41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1"/>
              </a:lnSpc>
            </a:pPr>
            <a:r>
              <a:rPr lang="en-US" sz="1275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Incomplete student picture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964740"/>
            <a:ext cx="9452677" cy="177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Campus360: One Student, One View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3151365"/>
            <a:ext cx="4588869" cy="3159262"/>
            <a:chOff x="0" y="0"/>
            <a:chExt cx="6118492" cy="4212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18479" cy="4212336"/>
            </a:xfrm>
            <a:custGeom>
              <a:avLst/>
              <a:gdLst/>
              <a:ahLst/>
              <a:cxnLst/>
              <a:rect r="r" b="b" t="t" l="l"/>
              <a:pathLst>
                <a:path h="4212336" w="6118479">
                  <a:moveTo>
                    <a:pt x="0" y="335153"/>
                  </a:moveTo>
                  <a:cubicBezTo>
                    <a:pt x="0" y="150114"/>
                    <a:pt x="150114" y="0"/>
                    <a:pt x="335153" y="0"/>
                  </a:cubicBezTo>
                  <a:lnTo>
                    <a:pt x="5783326" y="0"/>
                  </a:lnTo>
                  <a:cubicBezTo>
                    <a:pt x="5968492" y="0"/>
                    <a:pt x="6118479" y="150114"/>
                    <a:pt x="6118479" y="335153"/>
                  </a:cubicBezTo>
                  <a:lnTo>
                    <a:pt x="6118479" y="3877183"/>
                  </a:lnTo>
                  <a:cubicBezTo>
                    <a:pt x="6118479" y="4062349"/>
                    <a:pt x="5968365" y="4212336"/>
                    <a:pt x="5783326" y="4212336"/>
                  </a:cubicBezTo>
                  <a:lnTo>
                    <a:pt x="335153" y="4212336"/>
                  </a:lnTo>
                  <a:cubicBezTo>
                    <a:pt x="150114" y="4212336"/>
                    <a:pt x="0" y="4062222"/>
                    <a:pt x="0" y="387718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72254" y="3430638"/>
            <a:ext cx="837943" cy="837962"/>
            <a:chOff x="0" y="0"/>
            <a:chExt cx="1117257" cy="11172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7219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219">
                  <a:moveTo>
                    <a:pt x="0" y="558673"/>
                  </a:moveTo>
                  <a:cubicBezTo>
                    <a:pt x="0" y="250063"/>
                    <a:pt x="250063" y="0"/>
                    <a:pt x="558673" y="0"/>
                  </a:cubicBezTo>
                  <a:cubicBezTo>
                    <a:pt x="867283" y="0"/>
                    <a:pt x="1117219" y="250063"/>
                    <a:pt x="1117219" y="558673"/>
                  </a:cubicBezTo>
                  <a:cubicBezTo>
                    <a:pt x="1117219" y="867283"/>
                    <a:pt x="867156" y="1117346"/>
                    <a:pt x="558673" y="1117346"/>
                  </a:cubicBezTo>
                  <a:cubicBezTo>
                    <a:pt x="250190" y="1117346"/>
                    <a:pt x="0" y="867156"/>
                    <a:pt x="0" y="558673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502664" y="3661058"/>
            <a:ext cx="376971" cy="376980"/>
          </a:xfrm>
          <a:custGeom>
            <a:avLst/>
            <a:gdLst/>
            <a:ahLst/>
            <a:cxnLst/>
            <a:rect r="r" b="b" t="t" l="l"/>
            <a:pathLst>
              <a:path h="376980" w="376971">
                <a:moveTo>
                  <a:pt x="0" y="0"/>
                </a:moveTo>
                <a:lnTo>
                  <a:pt x="376971" y="0"/>
                </a:lnTo>
                <a:lnTo>
                  <a:pt x="376971" y="376980"/>
                </a:lnTo>
                <a:lnTo>
                  <a:pt x="0" y="37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499" r="0" b="-749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2254" y="4534024"/>
            <a:ext cx="4030332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Unified Student 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2254" y="5049593"/>
            <a:ext cx="4030332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Data stitching + centralized warehouse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856799" y="3151365"/>
            <a:ext cx="4588869" cy="3159262"/>
            <a:chOff x="0" y="0"/>
            <a:chExt cx="6118492" cy="42123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18479" cy="4212336"/>
            </a:xfrm>
            <a:custGeom>
              <a:avLst/>
              <a:gdLst/>
              <a:ahLst/>
              <a:cxnLst/>
              <a:rect r="r" b="b" t="t" l="l"/>
              <a:pathLst>
                <a:path h="4212336" w="6118479">
                  <a:moveTo>
                    <a:pt x="0" y="335153"/>
                  </a:moveTo>
                  <a:cubicBezTo>
                    <a:pt x="0" y="150114"/>
                    <a:pt x="150114" y="0"/>
                    <a:pt x="335153" y="0"/>
                  </a:cubicBezTo>
                  <a:lnTo>
                    <a:pt x="5783326" y="0"/>
                  </a:lnTo>
                  <a:cubicBezTo>
                    <a:pt x="5968492" y="0"/>
                    <a:pt x="6118479" y="150114"/>
                    <a:pt x="6118479" y="335153"/>
                  </a:cubicBezTo>
                  <a:lnTo>
                    <a:pt x="6118479" y="3877183"/>
                  </a:lnTo>
                  <a:cubicBezTo>
                    <a:pt x="6118479" y="4062349"/>
                    <a:pt x="5968365" y="4212336"/>
                    <a:pt x="5783326" y="4212336"/>
                  </a:cubicBezTo>
                  <a:lnTo>
                    <a:pt x="335153" y="4212336"/>
                  </a:lnTo>
                  <a:cubicBezTo>
                    <a:pt x="150114" y="4212336"/>
                    <a:pt x="0" y="4062222"/>
                    <a:pt x="0" y="3877183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136062" y="3430638"/>
            <a:ext cx="837943" cy="837962"/>
            <a:chOff x="0" y="0"/>
            <a:chExt cx="1117257" cy="11172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7219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219">
                  <a:moveTo>
                    <a:pt x="0" y="558673"/>
                  </a:moveTo>
                  <a:cubicBezTo>
                    <a:pt x="0" y="250063"/>
                    <a:pt x="250063" y="0"/>
                    <a:pt x="558673" y="0"/>
                  </a:cubicBezTo>
                  <a:cubicBezTo>
                    <a:pt x="867283" y="0"/>
                    <a:pt x="1117219" y="250063"/>
                    <a:pt x="1117219" y="558673"/>
                  </a:cubicBezTo>
                  <a:cubicBezTo>
                    <a:pt x="1117219" y="867283"/>
                    <a:pt x="867156" y="1117346"/>
                    <a:pt x="558673" y="1117346"/>
                  </a:cubicBezTo>
                  <a:cubicBezTo>
                    <a:pt x="250190" y="1117346"/>
                    <a:pt x="0" y="867156"/>
                    <a:pt x="0" y="558673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6366472" y="3661058"/>
            <a:ext cx="376971" cy="376980"/>
          </a:xfrm>
          <a:custGeom>
            <a:avLst/>
            <a:gdLst/>
            <a:ahLst/>
            <a:cxnLst/>
            <a:rect r="r" b="b" t="t" l="l"/>
            <a:pathLst>
              <a:path h="376980" w="376971">
                <a:moveTo>
                  <a:pt x="0" y="0"/>
                </a:moveTo>
                <a:lnTo>
                  <a:pt x="376971" y="0"/>
                </a:lnTo>
                <a:lnTo>
                  <a:pt x="376971" y="376980"/>
                </a:lnTo>
                <a:lnTo>
                  <a:pt x="0" y="376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752" t="0" r="-3749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136062" y="4534024"/>
            <a:ext cx="4030332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Predictive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36062" y="5049593"/>
            <a:ext cx="4030332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Performance prediction + at-risk detection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991" y="6585585"/>
            <a:ext cx="9452677" cy="2716006"/>
            <a:chOff x="0" y="0"/>
            <a:chExt cx="12603569" cy="36213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03480" cy="3621278"/>
            </a:xfrm>
            <a:custGeom>
              <a:avLst/>
              <a:gdLst/>
              <a:ahLst/>
              <a:cxnLst/>
              <a:rect r="r" b="b" t="t" l="l"/>
              <a:pathLst>
                <a:path h="3621278" w="12603480">
                  <a:moveTo>
                    <a:pt x="0" y="335153"/>
                  </a:moveTo>
                  <a:cubicBezTo>
                    <a:pt x="0" y="150114"/>
                    <a:pt x="150114" y="0"/>
                    <a:pt x="335153" y="0"/>
                  </a:cubicBezTo>
                  <a:lnTo>
                    <a:pt x="12268327" y="0"/>
                  </a:lnTo>
                  <a:cubicBezTo>
                    <a:pt x="12453493" y="0"/>
                    <a:pt x="12603480" y="150114"/>
                    <a:pt x="12603480" y="335153"/>
                  </a:cubicBezTo>
                  <a:lnTo>
                    <a:pt x="12603480" y="3286125"/>
                  </a:lnTo>
                  <a:cubicBezTo>
                    <a:pt x="12603480" y="3471291"/>
                    <a:pt x="12453366" y="3621278"/>
                    <a:pt x="12268327" y="3621278"/>
                  </a:cubicBezTo>
                  <a:lnTo>
                    <a:pt x="335153" y="3621278"/>
                  </a:lnTo>
                  <a:cubicBezTo>
                    <a:pt x="150114" y="3621278"/>
                    <a:pt x="0" y="3471291"/>
                    <a:pt x="0" y="3286125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72254" y="6864848"/>
            <a:ext cx="837943" cy="837962"/>
            <a:chOff x="0" y="0"/>
            <a:chExt cx="1117257" cy="11172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7219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219">
                  <a:moveTo>
                    <a:pt x="0" y="558673"/>
                  </a:moveTo>
                  <a:cubicBezTo>
                    <a:pt x="0" y="250063"/>
                    <a:pt x="250063" y="0"/>
                    <a:pt x="558673" y="0"/>
                  </a:cubicBezTo>
                  <a:cubicBezTo>
                    <a:pt x="867283" y="0"/>
                    <a:pt x="1117219" y="250063"/>
                    <a:pt x="1117219" y="558673"/>
                  </a:cubicBezTo>
                  <a:cubicBezTo>
                    <a:pt x="1117219" y="867283"/>
                    <a:pt x="867156" y="1117346"/>
                    <a:pt x="558673" y="1117346"/>
                  </a:cubicBezTo>
                  <a:cubicBezTo>
                    <a:pt x="250190" y="1117346"/>
                    <a:pt x="0" y="867156"/>
                    <a:pt x="0" y="558673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502664" y="7095268"/>
            <a:ext cx="376971" cy="376980"/>
          </a:xfrm>
          <a:custGeom>
            <a:avLst/>
            <a:gdLst/>
            <a:ahLst/>
            <a:cxnLst/>
            <a:rect r="r" b="b" t="t" l="l"/>
            <a:pathLst>
              <a:path h="376980" w="376971">
                <a:moveTo>
                  <a:pt x="0" y="0"/>
                </a:moveTo>
                <a:lnTo>
                  <a:pt x="376971" y="0"/>
                </a:lnTo>
                <a:lnTo>
                  <a:pt x="376971" y="376980"/>
                </a:lnTo>
                <a:lnTo>
                  <a:pt x="0" y="37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4998" r="0" b="-14998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72254" y="7968244"/>
            <a:ext cx="8894150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GenAI Faculty Assistant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2254" y="8483803"/>
            <a:ext cx="8894150" cy="5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Converts analytics into understandable insights and action plans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0317"/>
            <a:ext cx="16315868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How Campus360 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365371"/>
            <a:ext cx="14641468" cy="8236039"/>
            <a:chOff x="0" y="0"/>
            <a:chExt cx="19521957" cy="1098138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521932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9521932">
                  <a:moveTo>
                    <a:pt x="0" y="0"/>
                  </a:moveTo>
                  <a:lnTo>
                    <a:pt x="19521932" y="0"/>
                  </a:lnTo>
                  <a:lnTo>
                    <a:pt x="19521932" y="10981436"/>
                  </a:lnTo>
                  <a:lnTo>
                    <a:pt x="0" y="1098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61133"/>
            <a:ext cx="16315868" cy="90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From Fragmented Data to Student 360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979695"/>
            <a:ext cx="16315868" cy="9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Campus360 transforms disparate data into a holistic student profile using a robust relational database and star schema design.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270675"/>
            <a:ext cx="8020460" cy="6234665"/>
          </a:xfrm>
          <a:custGeom>
            <a:avLst/>
            <a:gdLst/>
            <a:ahLst/>
            <a:cxnLst/>
            <a:rect r="r" b="b" t="t" l="l"/>
            <a:pathLst>
              <a:path h="6234665" w="8020460">
                <a:moveTo>
                  <a:pt x="0" y="0"/>
                </a:moveTo>
                <a:lnTo>
                  <a:pt x="8020459" y="0"/>
                </a:lnTo>
                <a:lnTo>
                  <a:pt x="8020459" y="6234665"/>
                </a:lnTo>
                <a:lnTo>
                  <a:pt x="0" y="62346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3" r="0" b="-53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4835662" y="3521945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10383" y="4378376"/>
            <a:ext cx="7385675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Domain-Specific Tables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0383" y="4893945"/>
            <a:ext cx="7385675" cy="429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47"/>
              </a:lnSpc>
              <a:buFont typeface="Arial"/>
              <a:buChar char="•"/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academic_records: CGPA, academic history &amp; performance data.</a:t>
            </a:r>
          </a:p>
          <a:p>
            <a:pPr algn="l" marL="394236" indent="-197118" lvl="1">
              <a:lnSpc>
                <a:spcPts val="3447"/>
              </a:lnSpc>
              <a:buFont typeface="Arial"/>
              <a:buChar char="•"/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exam_marks: Subject/examination marks.</a:t>
            </a:r>
          </a:p>
          <a:p>
            <a:pPr algn="l" marL="394236" indent="-197118" lvl="1">
              <a:lnSpc>
                <a:spcPts val="3447"/>
              </a:lnSpc>
              <a:buFont typeface="Arial"/>
              <a:buChar char="•"/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attendance: Attendance records.</a:t>
            </a:r>
          </a:p>
          <a:p>
            <a:pPr algn="l" marL="394236" indent="-197118" lvl="1">
              <a:lnSpc>
                <a:spcPts val="3447"/>
              </a:lnSpc>
              <a:buFont typeface="Arial"/>
              <a:buChar char="•"/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lifestyle: Sleep, stress, wellness &amp; lifestyle indicators.</a:t>
            </a:r>
          </a:p>
          <a:p>
            <a:pPr algn="l" marL="394236" indent="-197118" lvl="1">
              <a:lnSpc>
                <a:spcPts val="3447"/>
              </a:lnSpc>
              <a:buFont typeface="Arial"/>
              <a:buChar char="•"/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skills: Technical and career-related skills.</a:t>
            </a:r>
          </a:p>
          <a:p>
            <a:pPr algn="l" marL="394236" indent="-197118" lvl="1">
              <a:lnSpc>
                <a:spcPts val="3447"/>
              </a:lnSpc>
              <a:buFont typeface="Arial"/>
              <a:buChar char="•"/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career_preferences: Career interests and preferences.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288389" y="3270675"/>
            <a:ext cx="8020460" cy="6234665"/>
          </a:xfrm>
          <a:custGeom>
            <a:avLst/>
            <a:gdLst/>
            <a:ahLst/>
            <a:cxnLst/>
            <a:rect r="r" b="b" t="t" l="l"/>
            <a:pathLst>
              <a:path h="6234665" w="8020460">
                <a:moveTo>
                  <a:pt x="0" y="0"/>
                </a:moveTo>
                <a:lnTo>
                  <a:pt x="8020460" y="0"/>
                </a:lnTo>
                <a:lnTo>
                  <a:pt x="8020460" y="6234665"/>
                </a:lnTo>
                <a:lnTo>
                  <a:pt x="0" y="62346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3" r="0" b="-53"/>
            </a:stretch>
          </a:blipFill>
        </p:spPr>
      </p:sp>
      <p:sp>
        <p:nvSpPr>
          <p:cNvPr name="Freeform 13" id="13" descr="preencoded.png"/>
          <p:cNvSpPr/>
          <p:nvPr/>
        </p:nvSpPr>
        <p:spPr>
          <a:xfrm flipH="false" flipV="false" rot="0">
            <a:off x="13131060" y="3521945"/>
            <a:ext cx="335118" cy="335128"/>
          </a:xfrm>
          <a:custGeom>
            <a:avLst/>
            <a:gdLst/>
            <a:ahLst/>
            <a:cxnLst/>
            <a:rect r="r" b="b" t="t" l="l"/>
            <a:pathLst>
              <a:path h="335128" w="33511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05782" y="4378376"/>
            <a:ext cx="7385675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Unified Analytical Layer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5782" y="4893945"/>
            <a:ext cx="7385675" cy="189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The student_master_stitched table combines validated information from all domain tables. This ETL-processed, unified dataset fuels ML models, analytics, and dynamic dashboards for comprehensive insights.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9270"/>
            <a:ext cx="16315868" cy="86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From Fragmented Data to Student 360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8176" y="2040245"/>
            <a:ext cx="8217656" cy="7446483"/>
            <a:chOff x="0" y="0"/>
            <a:chExt cx="10956874" cy="99286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6925" cy="9928733"/>
            </a:xfrm>
            <a:custGeom>
              <a:avLst/>
              <a:gdLst/>
              <a:ahLst/>
              <a:cxnLst/>
              <a:rect r="r" b="b" t="t" l="l"/>
              <a:pathLst>
                <a:path h="9928733" w="10956925">
                  <a:moveTo>
                    <a:pt x="0" y="519303"/>
                  </a:moveTo>
                  <a:cubicBezTo>
                    <a:pt x="0" y="232537"/>
                    <a:pt x="232537" y="0"/>
                    <a:pt x="519303" y="0"/>
                  </a:cubicBezTo>
                  <a:lnTo>
                    <a:pt x="10437622" y="0"/>
                  </a:lnTo>
                  <a:cubicBezTo>
                    <a:pt x="10724388" y="0"/>
                    <a:pt x="10956925" y="232537"/>
                    <a:pt x="10956925" y="519303"/>
                  </a:cubicBezTo>
                  <a:lnTo>
                    <a:pt x="10956925" y="9409430"/>
                  </a:lnTo>
                  <a:cubicBezTo>
                    <a:pt x="10956925" y="9696197"/>
                    <a:pt x="10724388" y="9928733"/>
                    <a:pt x="10437622" y="9928733"/>
                  </a:cubicBezTo>
                  <a:lnTo>
                    <a:pt x="519303" y="9928733"/>
                  </a:lnTo>
                  <a:cubicBezTo>
                    <a:pt x="232537" y="9928606"/>
                    <a:pt x="0" y="9696196"/>
                    <a:pt x="0" y="9409430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68505" y="4305995"/>
            <a:ext cx="7676998" cy="43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How It 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8505" y="4919548"/>
            <a:ext cx="7676998" cy="24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Multiple datasets are integrated using a common student identifier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Strict key-based joins are used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quality checks validate the integrated dataset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Central warehouse provides a unified student profile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71132" y="2330234"/>
            <a:ext cx="6866315" cy="6866487"/>
            <a:chOff x="0" y="0"/>
            <a:chExt cx="9155087" cy="915531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155049" cy="9155303"/>
            </a:xfrm>
            <a:custGeom>
              <a:avLst/>
              <a:gdLst/>
              <a:ahLst/>
              <a:cxnLst/>
              <a:rect r="r" b="b" t="t" l="l"/>
              <a:pathLst>
                <a:path h="9155303" w="9155049">
                  <a:moveTo>
                    <a:pt x="0" y="0"/>
                  </a:moveTo>
                  <a:lnTo>
                    <a:pt x="9155049" y="0"/>
                  </a:lnTo>
                  <a:lnTo>
                    <a:pt x="9155049" y="9155303"/>
                  </a:lnTo>
                  <a:lnTo>
                    <a:pt x="0" y="9155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167157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Understand Student Performance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364035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67" t="0" r="-66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4704264"/>
            <a:ext cx="5202203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Subject/Academic Performance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6549819" y="364035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34" t="0" r="-133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49819" y="4704264"/>
            <a:ext cx="5202203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Attendance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2106646" y="364035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1" y="0"/>
                </a:lnTo>
                <a:lnTo>
                  <a:pt x="709261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001" t="0" r="-800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06646" y="4704264"/>
            <a:ext cx="5202203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Lifestyle/Wellness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6158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000" t="0" r="-200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991" y="7222169"/>
            <a:ext cx="5202203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Career Readiness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549819" y="6158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1334" t="0" r="-1133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49819" y="7222169"/>
            <a:ext cx="5202203" cy="8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Cohort-Level and Individual-Level Insights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147649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Predict Academic Performance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762632"/>
            <a:ext cx="7811795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Input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4394387"/>
            <a:ext cx="872689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Previous academic + behavioral indicators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5227358"/>
            <a:ext cx="7811795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ML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5859104"/>
            <a:ext cx="872689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Gradient Boosting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6692075"/>
            <a:ext cx="7811795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7323820"/>
            <a:ext cx="8726891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Predicted future academic performance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02248" y="3478892"/>
            <a:ext cx="8220485" cy="4649448"/>
            <a:chOff x="0" y="0"/>
            <a:chExt cx="10960646" cy="6199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60736" cy="6199251"/>
            </a:xfrm>
            <a:custGeom>
              <a:avLst/>
              <a:gdLst/>
              <a:ahLst/>
              <a:cxnLst/>
              <a:rect r="r" b="b" t="t" l="l"/>
              <a:pathLst>
                <a:path h="6199251" w="10960736">
                  <a:moveTo>
                    <a:pt x="0" y="544830"/>
                  </a:moveTo>
                  <a:cubicBezTo>
                    <a:pt x="0" y="243967"/>
                    <a:pt x="243967" y="0"/>
                    <a:pt x="544830" y="0"/>
                  </a:cubicBezTo>
                  <a:lnTo>
                    <a:pt x="10415905" y="0"/>
                  </a:lnTo>
                  <a:cubicBezTo>
                    <a:pt x="10716768" y="0"/>
                    <a:pt x="10960736" y="243967"/>
                    <a:pt x="10960736" y="544830"/>
                  </a:cubicBezTo>
                  <a:lnTo>
                    <a:pt x="10960736" y="5654421"/>
                  </a:lnTo>
                  <a:cubicBezTo>
                    <a:pt x="10960736" y="5955284"/>
                    <a:pt x="10716768" y="6199251"/>
                    <a:pt x="10415905" y="6199251"/>
                  </a:cubicBezTo>
                  <a:lnTo>
                    <a:pt x="544830" y="6199251"/>
                  </a:lnTo>
                  <a:cubicBezTo>
                    <a:pt x="243967" y="6199251"/>
                    <a:pt x="0" y="5955284"/>
                    <a:pt x="0" y="5654421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85979" y="3762632"/>
            <a:ext cx="7653023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Evaluation Metrics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5979" y="4394387"/>
            <a:ext cx="7653023" cy="165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R²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MAE</a:t>
            </a:r>
          </a:p>
          <a:p>
            <a:pPr algn="l" marL="394236" indent="-197118" lvl="1">
              <a:lnSpc>
                <a:spcPts val="3474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RMSE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5979" y="6333715"/>
            <a:ext cx="7653023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Important Features/Drivers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5979" y="6965461"/>
            <a:ext cx="8568118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3–5 verified important features/drivers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66698"/>
            <a:ext cx="16315868" cy="86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Identify Students Who May Need Early Support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24801" y="2546499"/>
            <a:ext cx="6252239" cy="2861520"/>
            <a:chOff x="0" y="0"/>
            <a:chExt cx="8336318" cy="381535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336280" cy="3815334"/>
            </a:xfrm>
            <a:custGeom>
              <a:avLst/>
              <a:gdLst/>
              <a:ahLst/>
              <a:cxnLst/>
              <a:rect r="r" b="b" t="t" l="l"/>
              <a:pathLst>
                <a:path h="3815334" w="8336280">
                  <a:moveTo>
                    <a:pt x="0" y="0"/>
                  </a:moveTo>
                  <a:lnTo>
                    <a:pt x="8336280" y="0"/>
                  </a:lnTo>
                  <a:lnTo>
                    <a:pt x="8336280" y="3815334"/>
                  </a:lnTo>
                  <a:lnTo>
                    <a:pt x="0" y="3815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" r="0" b="-12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812170" y="4615444"/>
            <a:ext cx="1173813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Faculty Attention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2843" y="4615444"/>
            <a:ext cx="1173813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 Probability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61564" y="4728505"/>
            <a:ext cx="1173813" cy="22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 Model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8109" y="4615444"/>
            <a:ext cx="1173813" cy="4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Student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5946172"/>
            <a:ext cx="7828026" cy="43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How It 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6559725"/>
            <a:ext cx="7828026" cy="24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Detect students who may require additional support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Use behavioral/academic indicators available before intervention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Threshold-based risk classification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Faculty remains responsible for the final decision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95543" y="5698017"/>
            <a:ext cx="8217656" cy="3411131"/>
            <a:chOff x="0" y="0"/>
            <a:chExt cx="10956874" cy="45481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56925" cy="4548251"/>
            </a:xfrm>
            <a:custGeom>
              <a:avLst/>
              <a:gdLst/>
              <a:ahLst/>
              <a:cxnLst/>
              <a:rect r="r" b="b" t="t" l="l"/>
              <a:pathLst>
                <a:path h="4548251" w="10956925">
                  <a:moveTo>
                    <a:pt x="0" y="519303"/>
                  </a:moveTo>
                  <a:cubicBezTo>
                    <a:pt x="0" y="232537"/>
                    <a:pt x="232537" y="0"/>
                    <a:pt x="519303" y="0"/>
                  </a:cubicBezTo>
                  <a:lnTo>
                    <a:pt x="10437622" y="0"/>
                  </a:lnTo>
                  <a:cubicBezTo>
                    <a:pt x="10724388" y="0"/>
                    <a:pt x="10956925" y="232537"/>
                    <a:pt x="10956925" y="519303"/>
                  </a:cubicBezTo>
                  <a:lnTo>
                    <a:pt x="10956925" y="4028948"/>
                  </a:lnTo>
                  <a:cubicBezTo>
                    <a:pt x="10956925" y="4315714"/>
                    <a:pt x="10724388" y="4548251"/>
                    <a:pt x="10437622" y="4548251"/>
                  </a:cubicBezTo>
                  <a:lnTo>
                    <a:pt x="519303" y="4548251"/>
                  </a:lnTo>
                  <a:cubicBezTo>
                    <a:pt x="232537" y="4548124"/>
                    <a:pt x="0" y="4315714"/>
                    <a:pt x="0" y="4028948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65872" y="5946172"/>
            <a:ext cx="7676998" cy="43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Verified Metrics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65872" y="6559725"/>
            <a:ext cx="7676998" cy="203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ROC-AUC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Recall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Precision</a:t>
            </a:r>
          </a:p>
          <a:p>
            <a:pPr algn="l" marL="380641" indent="-190321" lvl="1">
              <a:lnSpc>
                <a:spcPts val="3278"/>
              </a:lnSpc>
              <a:buFont typeface="Arial"/>
              <a:buChar char="•"/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66782"/>
            <a:ext cx="16315868" cy="86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From Prediction to Action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788894" y="2146592"/>
            <a:ext cx="8724052" cy="3273647"/>
            <a:chOff x="0" y="0"/>
            <a:chExt cx="11632070" cy="436486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632057" cy="4364863"/>
            </a:xfrm>
            <a:custGeom>
              <a:avLst/>
              <a:gdLst/>
              <a:ahLst/>
              <a:cxnLst/>
              <a:rect r="r" b="b" t="t" l="l"/>
              <a:pathLst>
                <a:path h="4364863" w="11632057">
                  <a:moveTo>
                    <a:pt x="0" y="0"/>
                  </a:moveTo>
                  <a:lnTo>
                    <a:pt x="11632057" y="0"/>
                  </a:lnTo>
                  <a:lnTo>
                    <a:pt x="11632057" y="4364863"/>
                  </a:lnTo>
                  <a:lnTo>
                    <a:pt x="0" y="4364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" r="0" b="-4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37765" y="4625530"/>
            <a:ext cx="1315812" cy="25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Action Plan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79491" y="4498791"/>
            <a:ext cx="1315812" cy="50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Risks &amp; Strengths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30219" y="4625530"/>
            <a:ext cx="1315812" cy="25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Assessment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80955" y="4498791"/>
            <a:ext cx="1315812" cy="50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GenAI Briefing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95630" y="4498791"/>
            <a:ext cx="1315812" cy="50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ML + 360 Data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5710238"/>
            <a:ext cx="5266839" cy="2461755"/>
          </a:xfrm>
          <a:custGeom>
            <a:avLst/>
            <a:gdLst/>
            <a:ahLst/>
            <a:cxnLst/>
            <a:rect r="r" b="b" t="t" l="l"/>
            <a:pathLst>
              <a:path h="2461755" w="5266839">
                <a:moveTo>
                  <a:pt x="0" y="0"/>
                </a:moveTo>
                <a:lnTo>
                  <a:pt x="5266839" y="0"/>
                </a:lnTo>
                <a:lnTo>
                  <a:pt x="5266839" y="2461755"/>
                </a:lnTo>
                <a:lnTo>
                  <a:pt x="0" y="2461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53963" y="6009170"/>
            <a:ext cx="4497419" cy="85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Natural-Language 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3963" y="6942211"/>
            <a:ext cx="4497419" cy="92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Converts complex analytics into natural-language insights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6517500" y="5710238"/>
            <a:ext cx="5266839" cy="2461755"/>
          </a:xfrm>
          <a:custGeom>
            <a:avLst/>
            <a:gdLst/>
            <a:ahLst/>
            <a:cxnLst/>
            <a:rect r="r" b="b" t="t" l="l"/>
            <a:pathLst>
              <a:path h="2461755" w="5266839">
                <a:moveTo>
                  <a:pt x="0" y="0"/>
                </a:moveTo>
                <a:lnTo>
                  <a:pt x="5266840" y="0"/>
                </a:lnTo>
                <a:lnTo>
                  <a:pt x="5266840" y="2461755"/>
                </a:lnTo>
                <a:lnTo>
                  <a:pt x="0" y="2461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978472" y="6009170"/>
            <a:ext cx="4497419" cy="43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Risk Factors &amp; Strengths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78472" y="6519653"/>
            <a:ext cx="4497419" cy="92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Highlights important risk factors and strengths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2042010" y="5710238"/>
            <a:ext cx="5266839" cy="2461755"/>
          </a:xfrm>
          <a:custGeom>
            <a:avLst/>
            <a:gdLst/>
            <a:ahLst/>
            <a:cxnLst/>
            <a:rect r="r" b="b" t="t" l="l"/>
            <a:pathLst>
              <a:path h="2461755" w="5266839">
                <a:moveTo>
                  <a:pt x="0" y="0"/>
                </a:moveTo>
                <a:lnTo>
                  <a:pt x="5266839" y="0"/>
                </a:lnTo>
                <a:lnTo>
                  <a:pt x="5266839" y="2461755"/>
                </a:lnTo>
                <a:lnTo>
                  <a:pt x="0" y="2461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1" r="0" b="-10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502982" y="6009170"/>
            <a:ext cx="4497419" cy="85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Actionable Recommendations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02982" y="6942211"/>
            <a:ext cx="4497419" cy="92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Generates structured, actionable recommendations for faculty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991" y="8461981"/>
            <a:ext cx="16315868" cy="1047083"/>
            <a:chOff x="0" y="0"/>
            <a:chExt cx="21754490" cy="1396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54466" cy="1396111"/>
            </a:xfrm>
            <a:custGeom>
              <a:avLst/>
              <a:gdLst/>
              <a:ahLst/>
              <a:cxnLst/>
              <a:rect r="r" b="b" t="t" l="l"/>
              <a:pathLst>
                <a:path h="1396111" w="21754466">
                  <a:moveTo>
                    <a:pt x="0" y="324485"/>
                  </a:moveTo>
                  <a:cubicBezTo>
                    <a:pt x="0" y="145288"/>
                    <a:pt x="145288" y="0"/>
                    <a:pt x="324485" y="0"/>
                  </a:cubicBezTo>
                  <a:lnTo>
                    <a:pt x="21429980" y="0"/>
                  </a:lnTo>
                  <a:cubicBezTo>
                    <a:pt x="21609177" y="0"/>
                    <a:pt x="21754466" y="145288"/>
                    <a:pt x="21754466" y="324485"/>
                  </a:cubicBezTo>
                  <a:lnTo>
                    <a:pt x="21754466" y="1071626"/>
                  </a:lnTo>
                  <a:cubicBezTo>
                    <a:pt x="21754466" y="1250823"/>
                    <a:pt x="21609177" y="1396111"/>
                    <a:pt x="21429980" y="1396111"/>
                  </a:cubicBezTo>
                  <a:lnTo>
                    <a:pt x="324485" y="1396111"/>
                  </a:lnTo>
                  <a:cubicBezTo>
                    <a:pt x="145288" y="1396111"/>
                    <a:pt x="0" y="1250823"/>
                    <a:pt x="0" y="1071626"/>
                  </a:cubicBezTo>
                  <a:close/>
                </a:path>
              </a:pathLst>
            </a:custGeom>
            <a:solidFill>
              <a:srgbClr val="DDEEE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63310" y="8826894"/>
            <a:ext cx="337947" cy="270339"/>
            <a:chOff x="0" y="0"/>
            <a:chExt cx="450596" cy="360451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50596" cy="360426"/>
            </a:xfrm>
            <a:custGeom>
              <a:avLst/>
              <a:gdLst/>
              <a:ahLst/>
              <a:cxnLst/>
              <a:rect r="r" b="b" t="t" l="l"/>
              <a:pathLst>
                <a:path h="360426" w="450596">
                  <a:moveTo>
                    <a:pt x="0" y="0"/>
                  </a:moveTo>
                  <a:lnTo>
                    <a:pt x="450596" y="0"/>
                  </a:lnTo>
                  <a:lnTo>
                    <a:pt x="450596" y="360426"/>
                  </a:lnTo>
                  <a:lnTo>
                    <a:pt x="0" y="36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52" r="0" b="-35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871586" y="8710927"/>
            <a:ext cx="16082029" cy="49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 supports faculty decisions — it does not replace them.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16870"/>
            <a:ext cx="16315868" cy="71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278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Interactive Student Predictor &amp; Real-Time AI Counseling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131838"/>
            <a:ext cx="5261181" cy="7117756"/>
            <a:chOff x="0" y="0"/>
            <a:chExt cx="7014908" cy="94903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4845" cy="9490328"/>
            </a:xfrm>
            <a:custGeom>
              <a:avLst/>
              <a:gdLst/>
              <a:ahLst/>
              <a:cxnLst/>
              <a:rect r="r" b="b" t="t" l="l"/>
              <a:pathLst>
                <a:path h="9490328" w="7014845">
                  <a:moveTo>
                    <a:pt x="0" y="329819"/>
                  </a:moveTo>
                  <a:cubicBezTo>
                    <a:pt x="0" y="147701"/>
                    <a:pt x="147701" y="0"/>
                    <a:pt x="329819" y="0"/>
                  </a:cubicBezTo>
                  <a:lnTo>
                    <a:pt x="6685026" y="0"/>
                  </a:lnTo>
                  <a:cubicBezTo>
                    <a:pt x="6867144" y="0"/>
                    <a:pt x="7014845" y="147701"/>
                    <a:pt x="7014845" y="329819"/>
                  </a:cubicBezTo>
                  <a:lnTo>
                    <a:pt x="7014845" y="9160510"/>
                  </a:lnTo>
                  <a:cubicBezTo>
                    <a:pt x="7014845" y="9342628"/>
                    <a:pt x="6867144" y="9490328"/>
                    <a:pt x="6685026" y="9490328"/>
                  </a:cubicBezTo>
                  <a:lnTo>
                    <a:pt x="329819" y="9490328"/>
                  </a:lnTo>
                  <a:cubicBezTo>
                    <a:pt x="147701" y="9490329"/>
                    <a:pt x="0" y="9342628"/>
                    <a:pt x="0" y="916051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7787" y="2406644"/>
            <a:ext cx="824532" cy="824560"/>
            <a:chOff x="0" y="0"/>
            <a:chExt cx="1099376" cy="10994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9439" cy="1099439"/>
            </a:xfrm>
            <a:custGeom>
              <a:avLst/>
              <a:gdLst/>
              <a:ahLst/>
              <a:cxnLst/>
              <a:rect r="r" b="b" t="t" l="l"/>
              <a:pathLst>
                <a:path h="1099439" w="1099439">
                  <a:moveTo>
                    <a:pt x="0" y="549656"/>
                  </a:moveTo>
                  <a:cubicBezTo>
                    <a:pt x="0" y="246126"/>
                    <a:pt x="246126" y="0"/>
                    <a:pt x="549656" y="0"/>
                  </a:cubicBezTo>
                  <a:cubicBezTo>
                    <a:pt x="853186" y="0"/>
                    <a:pt x="1099439" y="246126"/>
                    <a:pt x="1099439" y="549656"/>
                  </a:cubicBezTo>
                  <a:cubicBezTo>
                    <a:pt x="1099439" y="853186"/>
                    <a:pt x="853313" y="1099439"/>
                    <a:pt x="549656" y="1099439"/>
                  </a:cubicBezTo>
                  <a:cubicBezTo>
                    <a:pt x="245999" y="1099439"/>
                    <a:pt x="0" y="853313"/>
                    <a:pt x="0" y="549656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94473" y="2633339"/>
            <a:ext cx="371008" cy="371018"/>
          </a:xfrm>
          <a:custGeom>
            <a:avLst/>
            <a:gdLst/>
            <a:ahLst/>
            <a:cxnLst/>
            <a:rect r="r" b="b" t="t" l="l"/>
            <a:pathLst>
              <a:path h="371018" w="371008">
                <a:moveTo>
                  <a:pt x="0" y="0"/>
                </a:moveTo>
                <a:lnTo>
                  <a:pt x="371008" y="0"/>
                </a:lnTo>
                <a:lnTo>
                  <a:pt x="371008" y="371017"/>
                </a:lnTo>
                <a:lnTo>
                  <a:pt x="0" y="371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83" t="0" r="-128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67787" y="3487836"/>
            <a:ext cx="4711589" cy="43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Upload &amp; Predict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7787" y="4000719"/>
            <a:ext cx="4711589" cy="38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Student/Faculty can </a:t>
            </a: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upload a CSV file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System automatically validates the required columns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Only </a:t>
            </a: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supported dataset fields</a:t>
            </a: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 are accepted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ML model generates predictions based on available student data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0329" y="2131838"/>
            <a:ext cx="5261181" cy="7117756"/>
            <a:chOff x="0" y="0"/>
            <a:chExt cx="7014908" cy="94903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14845" cy="9490328"/>
            </a:xfrm>
            <a:custGeom>
              <a:avLst/>
              <a:gdLst/>
              <a:ahLst/>
              <a:cxnLst/>
              <a:rect r="r" b="b" t="t" l="l"/>
              <a:pathLst>
                <a:path h="9490328" w="7014845">
                  <a:moveTo>
                    <a:pt x="0" y="329819"/>
                  </a:moveTo>
                  <a:cubicBezTo>
                    <a:pt x="0" y="147701"/>
                    <a:pt x="147701" y="0"/>
                    <a:pt x="329819" y="0"/>
                  </a:cubicBezTo>
                  <a:lnTo>
                    <a:pt x="6685026" y="0"/>
                  </a:lnTo>
                  <a:cubicBezTo>
                    <a:pt x="6867144" y="0"/>
                    <a:pt x="7014845" y="147701"/>
                    <a:pt x="7014845" y="329819"/>
                  </a:cubicBezTo>
                  <a:lnTo>
                    <a:pt x="7014845" y="9160510"/>
                  </a:lnTo>
                  <a:cubicBezTo>
                    <a:pt x="7014845" y="9342628"/>
                    <a:pt x="6867144" y="9490328"/>
                    <a:pt x="6685026" y="9490328"/>
                  </a:cubicBezTo>
                  <a:lnTo>
                    <a:pt x="329819" y="9490328"/>
                  </a:lnTo>
                  <a:cubicBezTo>
                    <a:pt x="147701" y="9490329"/>
                    <a:pt x="0" y="9342628"/>
                    <a:pt x="0" y="916051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95125" y="2406644"/>
            <a:ext cx="824532" cy="824560"/>
            <a:chOff x="0" y="0"/>
            <a:chExt cx="1099376" cy="10994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439" cy="1099439"/>
            </a:xfrm>
            <a:custGeom>
              <a:avLst/>
              <a:gdLst/>
              <a:ahLst/>
              <a:cxnLst/>
              <a:rect r="r" b="b" t="t" l="l"/>
              <a:pathLst>
                <a:path h="1099439" w="1099439">
                  <a:moveTo>
                    <a:pt x="0" y="549656"/>
                  </a:moveTo>
                  <a:cubicBezTo>
                    <a:pt x="0" y="246126"/>
                    <a:pt x="246126" y="0"/>
                    <a:pt x="549656" y="0"/>
                  </a:cubicBezTo>
                  <a:cubicBezTo>
                    <a:pt x="853186" y="0"/>
                    <a:pt x="1099439" y="246126"/>
                    <a:pt x="1099439" y="549656"/>
                  </a:cubicBezTo>
                  <a:cubicBezTo>
                    <a:pt x="1099439" y="853186"/>
                    <a:pt x="853313" y="1099439"/>
                    <a:pt x="549656" y="1099439"/>
                  </a:cubicBezTo>
                  <a:cubicBezTo>
                    <a:pt x="245999" y="1099439"/>
                    <a:pt x="0" y="853313"/>
                    <a:pt x="0" y="549656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7021811" y="2633339"/>
            <a:ext cx="371008" cy="371018"/>
          </a:xfrm>
          <a:custGeom>
            <a:avLst/>
            <a:gdLst/>
            <a:ahLst/>
            <a:cxnLst/>
            <a:rect r="r" b="b" t="t" l="l"/>
            <a:pathLst>
              <a:path h="371018" w="371008">
                <a:moveTo>
                  <a:pt x="0" y="0"/>
                </a:moveTo>
                <a:lnTo>
                  <a:pt x="371008" y="0"/>
                </a:lnTo>
                <a:lnTo>
                  <a:pt x="371008" y="371017"/>
                </a:lnTo>
                <a:lnTo>
                  <a:pt x="0" y="371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5129" t="0" r="-5129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95125" y="3487836"/>
            <a:ext cx="4711589" cy="868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Interactive Student Predictor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95125" y="4430125"/>
            <a:ext cx="4711589" cy="392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Enter or upload student academic data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Predict </a:t>
            </a: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next-semester performance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Identify </a:t>
            </a: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at-risk students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View prediction results instantly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Batch prediction supported for multiple students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47668" y="2131838"/>
            <a:ext cx="5261181" cy="7117756"/>
            <a:chOff x="0" y="0"/>
            <a:chExt cx="7014908" cy="94903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14845" cy="9490328"/>
            </a:xfrm>
            <a:custGeom>
              <a:avLst/>
              <a:gdLst/>
              <a:ahLst/>
              <a:cxnLst/>
              <a:rect r="r" b="b" t="t" l="l"/>
              <a:pathLst>
                <a:path h="9490328" w="7014845">
                  <a:moveTo>
                    <a:pt x="0" y="329819"/>
                  </a:moveTo>
                  <a:cubicBezTo>
                    <a:pt x="0" y="147701"/>
                    <a:pt x="147701" y="0"/>
                    <a:pt x="329819" y="0"/>
                  </a:cubicBezTo>
                  <a:lnTo>
                    <a:pt x="6685026" y="0"/>
                  </a:lnTo>
                  <a:cubicBezTo>
                    <a:pt x="6867144" y="0"/>
                    <a:pt x="7014845" y="147701"/>
                    <a:pt x="7014845" y="329819"/>
                  </a:cubicBezTo>
                  <a:lnTo>
                    <a:pt x="7014845" y="9160510"/>
                  </a:lnTo>
                  <a:cubicBezTo>
                    <a:pt x="7014845" y="9342628"/>
                    <a:pt x="6867144" y="9490328"/>
                    <a:pt x="6685026" y="9490328"/>
                  </a:cubicBezTo>
                  <a:lnTo>
                    <a:pt x="329819" y="9490328"/>
                  </a:lnTo>
                  <a:cubicBezTo>
                    <a:pt x="147701" y="9490329"/>
                    <a:pt x="0" y="9342628"/>
                    <a:pt x="0" y="9160510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22464" y="2406644"/>
            <a:ext cx="824532" cy="824560"/>
            <a:chOff x="0" y="0"/>
            <a:chExt cx="1099376" cy="10994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9439" cy="1099439"/>
            </a:xfrm>
            <a:custGeom>
              <a:avLst/>
              <a:gdLst/>
              <a:ahLst/>
              <a:cxnLst/>
              <a:rect r="r" b="b" t="t" l="l"/>
              <a:pathLst>
                <a:path h="1099439" w="1099439">
                  <a:moveTo>
                    <a:pt x="0" y="549656"/>
                  </a:moveTo>
                  <a:cubicBezTo>
                    <a:pt x="0" y="246126"/>
                    <a:pt x="246126" y="0"/>
                    <a:pt x="549656" y="0"/>
                  </a:cubicBezTo>
                  <a:cubicBezTo>
                    <a:pt x="853186" y="0"/>
                    <a:pt x="1099439" y="246126"/>
                    <a:pt x="1099439" y="549656"/>
                  </a:cubicBezTo>
                  <a:cubicBezTo>
                    <a:pt x="1099439" y="853186"/>
                    <a:pt x="853313" y="1099439"/>
                    <a:pt x="549656" y="1099439"/>
                  </a:cubicBezTo>
                  <a:cubicBezTo>
                    <a:pt x="245999" y="1099439"/>
                    <a:pt x="0" y="853313"/>
                    <a:pt x="0" y="549656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549149" y="2633339"/>
            <a:ext cx="371008" cy="371018"/>
          </a:xfrm>
          <a:custGeom>
            <a:avLst/>
            <a:gdLst/>
            <a:ahLst/>
            <a:cxnLst/>
            <a:rect r="r" b="b" t="t" l="l"/>
            <a:pathLst>
              <a:path h="371018" w="371008">
                <a:moveTo>
                  <a:pt x="0" y="0"/>
                </a:moveTo>
                <a:lnTo>
                  <a:pt x="371009" y="0"/>
                </a:lnTo>
                <a:lnTo>
                  <a:pt x="371009" y="371017"/>
                </a:lnTo>
                <a:lnTo>
                  <a:pt x="0" y="371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5383" r="0" b="-15383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322464" y="3487836"/>
            <a:ext cx="4711589" cy="43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Real-Time AI Counseling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22464" y="4000719"/>
            <a:ext cx="4711589" cy="497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AI analyzes the student's prediction and risk factors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Generates a personalized student assessment</a:t>
            </a:r>
          </a:p>
          <a:p>
            <a:pPr algn="l" marL="380641" indent="-190321" lvl="1">
              <a:lnSpc>
                <a:spcPts val="3303"/>
              </a:lnSpc>
              <a:buFont typeface="Arial"/>
              <a:buChar char="•"/>
            </a:pPr>
            <a:r>
              <a:rPr lang="en-US" sz="2101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Highlights:             </a:t>
            </a:r>
          </a:p>
          <a:p>
            <a:pPr algn="l" marL="807695" indent="-269232" lvl="2">
              <a:lnSpc>
                <a:spcPts val="3303"/>
              </a:lnSpc>
              <a:buFont typeface="Arial"/>
              <a:buChar char="⚬"/>
            </a:pP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Critical Risk Factors</a:t>
            </a:r>
          </a:p>
          <a:p>
            <a:pPr algn="l" marL="807695" indent="-269232" lvl="2">
              <a:lnSpc>
                <a:spcPts val="3303"/>
              </a:lnSpc>
              <a:buFont typeface="Arial"/>
              <a:buChar char="⚬"/>
            </a:pP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Strengths &amp; Positive Indicators</a:t>
            </a:r>
          </a:p>
          <a:p>
            <a:pPr algn="l" marL="807695" indent="-269232" lvl="2">
              <a:lnSpc>
                <a:spcPts val="3303"/>
              </a:lnSpc>
              <a:buFont typeface="Arial"/>
              <a:buChar char="⚬"/>
            </a:pP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Recommended Actions</a:t>
            </a:r>
          </a:p>
          <a:p>
            <a:pPr algn="l" marL="807695" indent="-269232" lvl="2">
              <a:lnSpc>
                <a:spcPts val="3303"/>
              </a:lnSpc>
              <a:buFont typeface="Arial"/>
              <a:buChar char="⚬"/>
            </a:pPr>
            <a:r>
              <a:rPr lang="en-US" b="true" sz="2101">
                <a:solidFill>
                  <a:srgbClr val="405449"/>
                </a:solidFill>
                <a:latin typeface="Arimo Bold"/>
                <a:ea typeface="Arimo Bold"/>
                <a:cs typeface="Arimo Bold"/>
                <a:sym typeface="Arimo Bold"/>
              </a:rPr>
              <a:t>14-Day Improvement Plan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411557"/>
            <a:ext cx="9452677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Why Campus360?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2742809"/>
            <a:ext cx="638356" cy="638375"/>
            <a:chOff x="0" y="0"/>
            <a:chExt cx="851141" cy="8511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1154" cy="851154"/>
            </a:xfrm>
            <a:custGeom>
              <a:avLst/>
              <a:gdLst/>
              <a:ahLst/>
              <a:cxnLst/>
              <a:rect r="r" b="b" t="t" l="l"/>
              <a:pathLst>
                <a:path h="851154" w="851154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510667" y="0"/>
                  </a:lnTo>
                  <a:cubicBezTo>
                    <a:pt x="698754" y="0"/>
                    <a:pt x="851154" y="152400"/>
                    <a:pt x="851154" y="340487"/>
                  </a:cubicBezTo>
                  <a:lnTo>
                    <a:pt x="851154" y="510667"/>
                  </a:lnTo>
                  <a:cubicBezTo>
                    <a:pt x="851154" y="698754"/>
                    <a:pt x="698754" y="851154"/>
                    <a:pt x="510667" y="851154"/>
                  </a:cubicBezTo>
                  <a:lnTo>
                    <a:pt x="340487" y="851154"/>
                  </a:lnTo>
                  <a:cubicBezTo>
                    <a:pt x="152400" y="851154"/>
                    <a:pt x="0" y="698754"/>
                    <a:pt x="0" y="51066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099404" y="2849156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553" r="0" b="-555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5077" y="2840222"/>
            <a:ext cx="8530580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✓ Unified student information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3948665"/>
            <a:ext cx="638356" cy="638375"/>
            <a:chOff x="0" y="0"/>
            <a:chExt cx="851141" cy="8511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1154" cy="851154"/>
            </a:xfrm>
            <a:custGeom>
              <a:avLst/>
              <a:gdLst/>
              <a:ahLst/>
              <a:cxnLst/>
              <a:rect r="r" b="b" t="t" l="l"/>
              <a:pathLst>
                <a:path h="851154" w="851154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510667" y="0"/>
                  </a:lnTo>
                  <a:cubicBezTo>
                    <a:pt x="698754" y="0"/>
                    <a:pt x="851154" y="152400"/>
                    <a:pt x="851154" y="340487"/>
                  </a:cubicBezTo>
                  <a:lnTo>
                    <a:pt x="851154" y="510667"/>
                  </a:lnTo>
                  <a:cubicBezTo>
                    <a:pt x="851154" y="698754"/>
                    <a:pt x="698754" y="851154"/>
                    <a:pt x="510667" y="851154"/>
                  </a:cubicBezTo>
                  <a:lnTo>
                    <a:pt x="340487" y="851154"/>
                  </a:lnTo>
                  <a:cubicBezTo>
                    <a:pt x="152400" y="851154"/>
                    <a:pt x="0" y="698754"/>
                    <a:pt x="0" y="51066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099404" y="4055012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8"/>
                </a:lnTo>
                <a:lnTo>
                  <a:pt x="0" y="425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45" t="0" r="-444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15077" y="4046077"/>
            <a:ext cx="8530580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✓ Earlier identification of academic risk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5154520"/>
            <a:ext cx="638356" cy="638375"/>
            <a:chOff x="0" y="0"/>
            <a:chExt cx="851141" cy="8511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1154" cy="851154"/>
            </a:xfrm>
            <a:custGeom>
              <a:avLst/>
              <a:gdLst/>
              <a:ahLst/>
              <a:cxnLst/>
              <a:rect r="r" b="b" t="t" l="l"/>
              <a:pathLst>
                <a:path h="851154" w="851154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510667" y="0"/>
                  </a:lnTo>
                  <a:cubicBezTo>
                    <a:pt x="698754" y="0"/>
                    <a:pt x="851154" y="152400"/>
                    <a:pt x="851154" y="340487"/>
                  </a:cubicBezTo>
                  <a:lnTo>
                    <a:pt x="851154" y="510667"/>
                  </a:lnTo>
                  <a:cubicBezTo>
                    <a:pt x="851154" y="698754"/>
                    <a:pt x="698754" y="851154"/>
                    <a:pt x="510667" y="851154"/>
                  </a:cubicBezTo>
                  <a:lnTo>
                    <a:pt x="340487" y="851154"/>
                  </a:lnTo>
                  <a:cubicBezTo>
                    <a:pt x="152400" y="851154"/>
                    <a:pt x="0" y="698754"/>
                    <a:pt x="0" y="51066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099404" y="5260867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9"/>
                </a:lnTo>
                <a:lnTo>
                  <a:pt x="0" y="425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" t="0" r="-3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15077" y="5251933"/>
            <a:ext cx="8530580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✓ Data-driven faculty intervention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991" y="6360376"/>
            <a:ext cx="638356" cy="638375"/>
            <a:chOff x="0" y="0"/>
            <a:chExt cx="851141" cy="8511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1154" cy="851154"/>
            </a:xfrm>
            <a:custGeom>
              <a:avLst/>
              <a:gdLst/>
              <a:ahLst/>
              <a:cxnLst/>
              <a:rect r="r" b="b" t="t" l="l"/>
              <a:pathLst>
                <a:path h="851154" w="851154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510667" y="0"/>
                  </a:lnTo>
                  <a:cubicBezTo>
                    <a:pt x="698754" y="0"/>
                    <a:pt x="851154" y="152400"/>
                    <a:pt x="851154" y="340487"/>
                  </a:cubicBezTo>
                  <a:lnTo>
                    <a:pt x="851154" y="510667"/>
                  </a:lnTo>
                  <a:cubicBezTo>
                    <a:pt x="851154" y="698754"/>
                    <a:pt x="698754" y="851154"/>
                    <a:pt x="510667" y="851154"/>
                  </a:cubicBezTo>
                  <a:lnTo>
                    <a:pt x="340487" y="851154"/>
                  </a:lnTo>
                  <a:cubicBezTo>
                    <a:pt x="152400" y="851154"/>
                    <a:pt x="0" y="698754"/>
                    <a:pt x="0" y="510667"/>
                  </a:cubicBezTo>
                  <a:close/>
                </a:path>
              </a:pathLst>
            </a:custGeom>
            <a:solidFill>
              <a:srgbClr val="E8F3E8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099404" y="6466723"/>
            <a:ext cx="425520" cy="425539"/>
          </a:xfrm>
          <a:custGeom>
            <a:avLst/>
            <a:gdLst/>
            <a:ahLst/>
            <a:cxnLst/>
            <a:rect r="r" b="b" t="t" l="l"/>
            <a:pathLst>
              <a:path h="425539" w="425520">
                <a:moveTo>
                  <a:pt x="0" y="0"/>
                </a:moveTo>
                <a:lnTo>
                  <a:pt x="425520" y="0"/>
                </a:lnTo>
                <a:lnTo>
                  <a:pt x="425520" y="425538"/>
                </a:lnTo>
                <a:lnTo>
                  <a:pt x="0" y="4255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9997" r="0" b="-19997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915077" y="6457788"/>
            <a:ext cx="8530580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05449"/>
                </a:solidFill>
                <a:latin typeface="Fraunces"/>
                <a:ea typeface="Fraunces"/>
                <a:cs typeface="Fraunces"/>
                <a:sym typeface="Fraunces"/>
              </a:rPr>
              <a:t>✓ Career-readiness visibility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8511" y="7541876"/>
            <a:ext cx="902714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"Campus360 transforms student data into timely intelligence for better-informed academic support."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991" y="7317943"/>
            <a:ext cx="38129" cy="1546346"/>
            <a:chOff x="0" y="0"/>
            <a:chExt cx="50838" cy="20617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2061718"/>
            </a:xfrm>
            <a:custGeom>
              <a:avLst/>
              <a:gdLst/>
              <a:ahLst/>
              <a:cxnLst/>
              <a:rect r="r" b="b" t="t" l="l"/>
              <a:pathLst>
                <a:path h="206171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36318"/>
                  </a:lnTo>
                  <a:cubicBezTo>
                    <a:pt x="50800" y="2050415"/>
                    <a:pt x="39370" y="2061718"/>
                    <a:pt x="25400" y="2061718"/>
                  </a:cubicBezTo>
                  <a:cubicBezTo>
                    <a:pt x="11430" y="2061718"/>
                    <a:pt x="0" y="2050288"/>
                    <a:pt x="0" y="2036318"/>
                  </a:cubicBezTo>
                  <a:close/>
                </a:path>
              </a:pathLst>
            </a:custGeom>
            <a:solidFill>
              <a:srgbClr val="438951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EEE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FFA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3858720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5554">
                <a:solidFill>
                  <a:srgbClr val="3B4540"/>
                </a:solidFill>
                <a:latin typeface="Fraunces"/>
                <a:ea typeface="Fraunces"/>
                <a:cs typeface="Fraunces"/>
                <a:sym typeface="Fraunces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094722"/>
            <a:ext cx="16315868" cy="132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For your time and attention.</a:t>
            </a:r>
          </a:p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405449"/>
                </a:solidFill>
                <a:latin typeface="Arimo"/>
                <a:ea typeface="Arimo"/>
                <a:cs typeface="Arimo"/>
                <a:sym typeface="Arimo"/>
              </a:rPr>
              <a:t>We are happy to answer any questions you may have about Campus360.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DAHVVP5BFHw</dc:identifier>
  <dcterms:modified xsi:type="dcterms:W3CDTF">2011-08-01T06:04:30Z</dcterms:modified>
  <cp:revision>1</cp:revision>
  <dc:title>Campus360 (1).pptx</dc:title>
</cp:coreProperties>
</file>